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retendard Black"/>
      <p:bold r:id="rId14"/>
    </p:embeddedFont>
    <p:embeddedFont>
      <p:font typeface="Pretendard ExtraBold"/>
      <p:bold r:id="rId15"/>
    </p:embeddedFont>
    <p:embeddedFont>
      <p:font typeface="Pretendard Bold"/>
      <p:bold r:id="rId16"/>
    </p:embeddedFont>
    <p:embeddedFont>
      <p:font typeface="Pretendard Regular"/>
      <p:regular r:id="rId17"/>
    </p:embeddedFont>
    <p:embeddedFont>
      <p:font typeface="Pretendard SemiBold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.fntdata" Type="http://schemas.openxmlformats.org/officeDocument/2006/relationships/font"/><Relationship Id="rId15" Target="fonts/font2.fntdata" Type="http://schemas.openxmlformats.org/officeDocument/2006/relationships/font"/><Relationship Id="rId16" Target="fonts/font3.fntdata" Type="http://schemas.openxmlformats.org/officeDocument/2006/relationships/font"/><Relationship Id="rId17" Target="fonts/font4.fntdata" Type="http://schemas.openxmlformats.org/officeDocument/2006/relationships/font"/><Relationship Id="rId18" Target="fonts/font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20.png" Type="http://schemas.openxmlformats.org/officeDocument/2006/relationships/image"/><Relationship Id="rId18" Target="../media/image21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11" Target="../media/image42.svg" Type="http://schemas.openxmlformats.org/officeDocument/2006/relationships/image"/><Relationship Id="rId12" Target="../media/image43.svg" Type="http://schemas.openxmlformats.org/officeDocument/2006/relationships/image"/><Relationship Id="rId13" Target="../media/image44.png" Type="http://schemas.openxmlformats.org/officeDocument/2006/relationships/image"/><Relationship Id="rId14" Target="../media/image45.svg" Type="http://schemas.openxmlformats.org/officeDocument/2006/relationships/image"/><Relationship Id="rId15" Target="../media/image46.svg" Type="http://schemas.openxmlformats.org/officeDocument/2006/relationships/image"/><Relationship Id="rId16" Target="../media/image22.png" Type="http://schemas.openxmlformats.org/officeDocument/2006/relationships/image"/><Relationship Id="rId17" Target="../media/image47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svg" Type="http://schemas.openxmlformats.org/officeDocument/2006/relationships/image"/><Relationship Id="rId11" Target="../media/image57.png" Type="http://schemas.openxmlformats.org/officeDocument/2006/relationships/image"/><Relationship Id="rId12" Target="../media/image58.svg" Type="http://schemas.openxmlformats.org/officeDocument/2006/relationships/image"/><Relationship Id="rId13" Target="../media/image59.png" Type="http://schemas.openxmlformats.org/officeDocument/2006/relationships/image"/><Relationship Id="rId14" Target="../media/image60.svg" Type="http://schemas.openxmlformats.org/officeDocument/2006/relationships/image"/><Relationship Id="rId15" Target="../media/image61.svg" Type="http://schemas.openxmlformats.org/officeDocument/2006/relationships/image"/><Relationship Id="rId16" Target="../media/image62.png" Type="http://schemas.openxmlformats.org/officeDocument/2006/relationships/image"/><Relationship Id="rId17" Target="../media/image63.svg" Type="http://schemas.openxmlformats.org/officeDocument/2006/relationships/image"/><Relationship Id="rId18" Target="../media/image22.png" Type="http://schemas.openxmlformats.org/officeDocument/2006/relationships/image"/><Relationship Id="rId19" Target="../media/image47.svg" Type="http://schemas.openxmlformats.org/officeDocument/2006/relationships/image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svg" Type="http://schemas.openxmlformats.org/officeDocument/2006/relationships/image"/><Relationship Id="rId11" Target="../media/image71.png" Type="http://schemas.openxmlformats.org/officeDocument/2006/relationships/image"/><Relationship Id="rId12" Target="../media/image72.svg" Type="http://schemas.openxmlformats.org/officeDocument/2006/relationships/image"/><Relationship Id="rId13" Target="../media/image73.png" Type="http://schemas.openxmlformats.org/officeDocument/2006/relationships/image"/><Relationship Id="rId14" Target="../media/image74.svg" Type="http://schemas.openxmlformats.org/officeDocument/2006/relationships/image"/><Relationship Id="rId15" Target="../media/image75.svg" Type="http://schemas.openxmlformats.org/officeDocument/2006/relationships/image"/><Relationship Id="rId16" Target="../media/image22.png" Type="http://schemas.openxmlformats.org/officeDocument/2006/relationships/image"/><Relationship Id="rId17" Target="../media/image47.svg" Type="http://schemas.openxmlformats.org/officeDocument/2006/relationships/image"/><Relationship Id="rId2" Target="../media/image64.png" Type="http://schemas.openxmlformats.org/officeDocument/2006/relationships/image"/><Relationship Id="rId3" Target="../media/image65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66.png" Type="http://schemas.openxmlformats.org/officeDocument/2006/relationships/image"/><Relationship Id="rId7" Target="../media/image67.svg" Type="http://schemas.openxmlformats.org/officeDocument/2006/relationships/image"/><Relationship Id="rId8" Target="../media/image68.png" Type="http://schemas.openxmlformats.org/officeDocument/2006/relationships/image"/><Relationship Id="rId9" Target="../media/image6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media/image7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449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25500" y="5473700"/>
            <a:ext cx="7264400" cy="38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98500" y="635000"/>
            <a:ext cx="10147300" cy="2667000"/>
          </a:xfrm>
          <a:prstGeom prst="rect">
            <a:avLst/>
          </a:prstGeom>
        </p:spPr>
        <p:txBody>
          <a:bodyPr anchor="t" rtlCol="false" lIns="0" tIns="101597" rIns="0" bIns="0"/>
          <a:lstStyle/>
          <a:p>
            <a:pPr algn="l" lvl="0">
              <a:lnSpc>
                <a:spcPct val="99600"/>
              </a:lnSpc>
            </a:pPr>
            <a:r>
              <a:rPr lang="en-US" sz="7998" b="false" i="false" u="none" strike="noStrik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포트폴리오
For 현대오토에버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3900" y="7759700"/>
            <a:ext cx="7061200" cy="64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99" b="false" i="false" u="none" strike="noStrike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양현익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29300" y="-368300"/>
            <a:ext cx="11861800" cy="15417800"/>
          </a:xfrm>
          <a:prstGeom prst="rect">
            <a:avLst/>
          </a:prstGeom>
        </p:spPr>
        <p:txBody>
          <a:bodyPr anchor="t" rtlCol="false" lIns="0" tIns="4571886" rIns="0" bIns="0"/>
          <a:lstStyle/>
          <a:p>
            <a:pPr algn="r" lvl="0">
              <a:lnSpc>
                <a:spcPct val="41500"/>
              </a:lnSpc>
            </a:pPr>
            <a:r>
              <a:rPr lang="en-US" sz="79998" b="false" i="false" u="none" strike="noStrike">
                <a:solidFill>
                  <a:srgbClr val="000000">
                    <a:alpha val="20000"/>
                  </a:srgbClr>
                </a:solidFill>
                <a:latin typeface="Pretendard Black"/>
                <a:ea typeface="Pretendard Black"/>
                <a:cs typeface="Pretendard Black"/>
              </a:rPr>
              <a:t>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4884400" y="-12700"/>
            <a:ext cx="3416300" cy="10312400"/>
          </a:xfrm>
          <a:prstGeom prst="rect">
            <a:avLst/>
          </a:prstGeom>
        </p:spPr>
      </p:pic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98500" y="2870200"/>
          <a:ext cx="13385800" cy="6769100"/>
        </p:xfrm>
        <a:graphic>
          <a:graphicData uri="http://schemas.openxmlformats.org/drawingml/2006/table">
            <a:tbl>
              <a:tblPr/>
              <a:tblGrid>
                <a:gridCol w="13362150"/>
              </a:tblGrid>
              <a:tr h="1151463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2130"/>
                        </a:lnSpc>
                        <a:defRPr/>
                      </a:pPr>
                      <a:r>
                        <a:rPr lang="en-US" sz="3000" b="false" i="false" u="none" strike="noStrike">
                          <a:solidFill>
                            <a:srgbClr val="00449E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1. 이력서</a:t>
                      </a:r>
                      <a:endParaRPr lang="en-US" sz="1100"/>
                    </a:p>
                  </a:txBody>
                  <a:tcPr anchor="ctr" marL="19050" marT="74295" marR="19050" marB="74295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006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006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13560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2130"/>
                        </a:lnSpc>
                        <a:defRPr/>
                      </a:pPr>
                      <a:r>
                        <a:rPr lang="en-US" sz="3000" b="false" i="false" u="none" strike="noStrike">
                          <a:solidFill>
                            <a:srgbClr val="00449E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2. 프로파일</a:t>
                      </a:r>
                      <a:endParaRPr lang="en-US" sz="1100"/>
                    </a:p>
                  </a:txBody>
                  <a:tcPr anchor="ctr" marL="19050" marT="74295" marR="19050" marB="74295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006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006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13560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3000" b="false" i="false" u="none" strike="noStrike">
                          <a:solidFill>
                            <a:srgbClr val="00449E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3. 프로젝트</a:t>
                      </a:r>
                      <a:endParaRPr lang="en-US" sz="1100"/>
                    </a:p>
                  </a:txBody>
                  <a:tcPr anchor="ctr" marL="19050" marT="95250" marR="19050" marB="952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006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006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104827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3000" b="false" i="false" u="none" strike="noStrike">
                          <a:solidFill>
                            <a:srgbClr val="00449E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/>
                      </a:r>
                      <a:endParaRPr lang="en-US" sz="1100"/>
                    </a:p>
                  </a:txBody>
                  <a:tcPr anchor="ctr" marL="19050" marT="95250" marR="19050" marB="952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006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006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104827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3000" b="false" i="false" u="none" strike="noStrike">
                          <a:solidFill>
                            <a:srgbClr val="00449E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/>
                      </a:r>
                      <a:endParaRPr lang="en-US" sz="1100"/>
                    </a:p>
                  </a:txBody>
                  <a:tcPr anchor="ctr" marL="19050" marT="95250" marR="19050" marB="952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006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006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104827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3000" b="false" i="false" u="none" strike="noStrike">
                          <a:solidFill>
                            <a:srgbClr val="00449E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/>
                      </a:r>
                      <a:endParaRPr lang="en-US" sz="1100"/>
                    </a:p>
                  </a:txBody>
                  <a:tcPr anchor="ctr" marL="19050" marT="95250" marR="19050" marB="952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006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006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685800" y="647700"/>
            <a:ext cx="12242800" cy="1092200"/>
          </a:xfrm>
          <a:prstGeom prst="rect">
            <a:avLst/>
          </a:prstGeom>
        </p:spPr>
        <p:txBody>
          <a:bodyPr anchor="t" rtlCol="false" lIns="0" tIns="76198" rIns="0" bIns="0"/>
          <a:lstStyle/>
          <a:p>
            <a:pPr algn="l" lvl="0">
              <a:lnSpc>
                <a:spcPct val="99600"/>
              </a:lnSpc>
            </a:pPr>
            <a:r>
              <a:rPr lang="en-US" sz="5999" b="false" i="false" u="none" strike="noStrike">
                <a:solidFill>
                  <a:srgbClr val="00449E"/>
                </a:solidFill>
                <a:latin typeface="Pretendard Black"/>
                <a:ea typeface="Pretendard Black"/>
                <a:cs typeface="Pretendard Black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000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5588000" y="-292100"/>
            <a:ext cx="12928600" cy="10820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055100" y="3517900"/>
            <a:ext cx="4902200" cy="4902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8877300" y="3327400"/>
            <a:ext cx="5270500" cy="5270500"/>
          </a:xfrm>
          <a:prstGeom prst="rect">
            <a:avLst/>
          </a:prstGeom>
          <a:effectLst>
            <a:outerShdw dir="5400000" dist="0" blurRad="79010">
              <a:srgbClr val="0077FF">
                <a:alpha val="10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737600" y="3187700"/>
            <a:ext cx="5549900" cy="554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-5003800" y="2336800"/>
            <a:ext cx="15608300" cy="5626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82200" y="2311400"/>
            <a:ext cx="3086100" cy="3111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073900" y="5956300"/>
            <a:ext cx="3086100" cy="3111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890500" y="5956300"/>
            <a:ext cx="3086100" cy="3111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8356600" y="6350000"/>
            <a:ext cx="533400" cy="533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896100" y="1206500"/>
            <a:ext cx="9766300" cy="990600"/>
          </a:xfrm>
          <a:prstGeom prst="rect">
            <a:avLst/>
          </a:prstGeom>
        </p:spPr>
        <p:txBody>
          <a:bodyPr anchor="t" rtlCol="false" lIns="0" tIns="17861" rIns="0" bIns="0"/>
          <a:lstStyle/>
          <a:p>
            <a:pPr algn="l" lvl="0">
              <a:lnSpc>
                <a:spcPct val="107899"/>
              </a:lnSpc>
            </a:pPr>
            <a:r>
              <a:rPr lang="en-US" sz="2812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개발자 수준의 소스코드 분석력과 최신 클라우드/AI 아키텍팅 역량을 동시에 갖춘 차세대 BC 엔지니어가 되겠습니다.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26700" y="3644900"/>
            <a:ext cx="2197100" cy="800100"/>
          </a:xfrm>
          <a:prstGeom prst="rect">
            <a:avLst/>
          </a:prstGeom>
        </p:spPr>
        <p:txBody>
          <a:bodyPr anchor="t" rtlCol="false" lIns="0" tIns="17780" rIns="0" bIns="0"/>
          <a:lstStyle/>
          <a:p>
            <a:pPr algn="ctr" lvl="0">
              <a:lnSpc>
                <a:spcPct val="107899"/>
              </a:lnSpc>
            </a:pPr>
            <a:r>
              <a:rPr lang="en-US" sz="2250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장애 대응 및 
모니터링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55200" y="5727700"/>
            <a:ext cx="3340100" cy="5969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107899"/>
              </a:lnSpc>
            </a:pPr>
            <a:r>
              <a:rPr lang="en-US" sz="3214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SAP 시스템 운영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35000" y="7289800"/>
            <a:ext cx="2197100" cy="431800"/>
          </a:xfrm>
          <a:prstGeom prst="rect">
            <a:avLst/>
          </a:prstGeom>
        </p:spPr>
        <p:txBody>
          <a:bodyPr anchor="t" rtlCol="false" lIns="0" tIns="17780" rIns="0" bIns="0"/>
          <a:lstStyle/>
          <a:p>
            <a:pPr algn="ctr" lvl="0">
              <a:lnSpc>
                <a:spcPct val="107899"/>
              </a:lnSpc>
            </a:pPr>
            <a:r>
              <a:rPr lang="en-US" sz="2250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보안 및 권한 관리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18400" y="7340600"/>
            <a:ext cx="2197100" cy="431800"/>
          </a:xfrm>
          <a:prstGeom prst="rect">
            <a:avLst/>
          </a:prstGeom>
        </p:spPr>
        <p:txBody>
          <a:bodyPr anchor="t" rtlCol="false" lIns="0" tIns="17780" rIns="0" bIns="0"/>
          <a:lstStyle/>
          <a:p>
            <a:pPr algn="ctr" lvl="0">
              <a:lnSpc>
                <a:spcPct val="107899"/>
              </a:lnSpc>
            </a:pPr>
            <a:r>
              <a:rPr lang="en-US" sz="2250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클라우드 인프라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9400" y="558800"/>
            <a:ext cx="52070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05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이력서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20700" y="1930400"/>
            <a:ext cx="4521200" cy="60198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0109200" y="279400"/>
            <a:ext cx="3733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56" b="tru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SAP ERP 운영 및 개발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4135100" y="6464300"/>
            <a:ext cx="520700" cy="596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1125200" y="2781300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2700" y="-12700"/>
            <a:ext cx="18313400" cy="368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46100" y="647700"/>
            <a:ext cx="8686800" cy="1092200"/>
          </a:xfrm>
          <a:prstGeom prst="rect">
            <a:avLst/>
          </a:prstGeom>
        </p:spPr>
        <p:txBody>
          <a:bodyPr anchor="t" rtlCol="false" lIns="0" tIns="76198" rIns="0" bIns="0"/>
          <a:lstStyle/>
          <a:p>
            <a:pPr algn="l" lvl="0">
              <a:lnSpc>
                <a:spcPct val="99600"/>
              </a:lnSpc>
            </a:pPr>
            <a:r>
              <a:rPr lang="en-US" sz="5999" b="false" i="false" u="none" strike="noStrike">
                <a:solidFill>
                  <a:srgbClr val="00449E"/>
                </a:solidFill>
                <a:latin typeface="Pretendard Black"/>
                <a:ea typeface="Pretendard Black"/>
                <a:cs typeface="Pretendard Black"/>
              </a:rPr>
              <a:t>프로파일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86500" y="914400"/>
            <a:ext cx="703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99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BC 역량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8500" y="2857500"/>
            <a:ext cx="703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99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직무 관련 경험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4200" y="3886200"/>
            <a:ext cx="5029200" cy="326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PCE 기반 SAP 인프라 구축 및 운영
- S4HANA 컨버젼 프로젝트 참여
- ABAP 소스코드 분석 및 기능 개발
- AI 신기술 SAP 융합
- Public Cloud 관리 </a:t>
            </a:r>
          </a:p>
          <a:p>
            <a:pPr algn="l" lvl="0">
              <a:lnSpc>
                <a:spcPct val="116199"/>
              </a:lnSpc>
            </a:pPr>
            <a:r>
              <a:rPr lang="en-US" sz="2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RAP 개발 및 Odata 활용
</a:t>
            </a:r>
            <a:br>
              <a:rPr lang="en-US" sz="2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775700" y="1778000"/>
            <a:ext cx="2679700" cy="4191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6832600" y="1752600"/>
            <a:ext cx="5613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0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OS / DB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75700" y="2489200"/>
            <a:ext cx="2679700" cy="419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6502400" y="2489200"/>
            <a:ext cx="5613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0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계정 및 권한 관리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775700" y="3200400"/>
            <a:ext cx="2679700" cy="419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629400" y="3200400"/>
            <a:ext cx="5613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0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PCE 운영 / 구축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72200" y="5473700"/>
            <a:ext cx="3860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99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ABAP 역량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864600" y="6464300"/>
            <a:ext cx="2654300" cy="4191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6629400" y="6464300"/>
            <a:ext cx="5549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62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ABAP 오브젝트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864600" y="7162800"/>
            <a:ext cx="2654300" cy="4191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6692900" y="7175500"/>
            <a:ext cx="5549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62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디버깅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864600" y="7874000"/>
            <a:ext cx="2654300" cy="4191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6629400" y="7861300"/>
            <a:ext cx="5549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62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RFC / Report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26900" y="876300"/>
            <a:ext cx="35687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99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BTP/AI 역량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74800" y="1765300"/>
            <a:ext cx="2679700" cy="4191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2217400" y="1727200"/>
            <a:ext cx="5613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0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Public Cloud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274800" y="2476500"/>
            <a:ext cx="2679700" cy="4191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2700000" y="2489200"/>
            <a:ext cx="5613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0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RAP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74800" y="3187700"/>
            <a:ext cx="2679700" cy="4191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2585700" y="3200400"/>
            <a:ext cx="5613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0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MCP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26900" y="5486400"/>
            <a:ext cx="35687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99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인프라 역량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274800" y="6451600"/>
            <a:ext cx="2679700" cy="4191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2331700" y="6426200"/>
            <a:ext cx="5613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0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네트워크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274800" y="7162800"/>
            <a:ext cx="2679700" cy="4191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2331700" y="7162800"/>
            <a:ext cx="5613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0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인터페이스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274800" y="7874000"/>
            <a:ext cx="2679700" cy="4191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2446000" y="7861300"/>
            <a:ext cx="5613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0" b="false" i="false" u="none" strike="noStrike">
                <a:solidFill>
                  <a:srgbClr val="00449E"/>
                </a:solidFill>
                <a:latin typeface="Pretendard ExtraBold"/>
                <a:ea typeface="Pretendard ExtraBold"/>
                <a:cs typeface="Pretendard ExtraBold"/>
              </a:rPr>
              <a:t>AWS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0700" y="939800"/>
            <a:ext cx="14706600" cy="11684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399" b="true" i="false" u="none" strike="noStrike">
                <a:solidFill>
                  <a:srgbClr val="00449E"/>
                </a:solidFill>
                <a:latin typeface="Pretendard SemiBold"/>
                <a:ea typeface="Pretendard SemiBold"/>
                <a:cs typeface="Pretendard SemiBold"/>
              </a:rPr>
              <a:t>SI 구축 프로젝트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905000" y="3822700"/>
            <a:ext cx="2159000" cy="5295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905000" y="2895600"/>
            <a:ext cx="2159000" cy="7493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070100" y="3060700"/>
            <a:ext cx="1803400" cy="419100"/>
          </a:xfrm>
          <a:prstGeom prst="rect">
            <a:avLst/>
          </a:prstGeom>
        </p:spPr>
        <p:txBody>
          <a:bodyPr anchor="t" rtlCol="false" lIns="0" tIns="13970" rIns="0" bIns="0"/>
          <a:lstStyle/>
          <a:p>
            <a:pPr algn="ctr" lvl="0">
              <a:lnSpc>
                <a:spcPct val="107899"/>
              </a:lnSpc>
            </a:pPr>
            <a:r>
              <a:rPr lang="en-US" sz="2199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구분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4318000" y="2895600"/>
            <a:ext cx="3797300" cy="749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368800" y="3048000"/>
            <a:ext cx="3708400" cy="4445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ctr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P사 PCE 프로젝트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4381500" y="4762500"/>
            <a:ext cx="36830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4432300" y="7073900"/>
            <a:ext cx="36830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4470400" y="9118600"/>
            <a:ext cx="3683000" cy="3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8483600" y="2895600"/>
            <a:ext cx="3797300" cy="74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8521700" y="3048000"/>
            <a:ext cx="3708400" cy="4445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ctr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L사 프로젝트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534400" y="4775200"/>
            <a:ext cx="3683000" cy="38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432800" y="7112000"/>
            <a:ext cx="3683000" cy="38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788400" y="9080500"/>
            <a:ext cx="3683000" cy="38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2649200" y="2895600"/>
            <a:ext cx="3797300" cy="7493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2687300" y="3048000"/>
            <a:ext cx="3708400" cy="4445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ctr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W사 PCE 프로젝트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2700000" y="4775200"/>
            <a:ext cx="3683000" cy="38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2598400" y="7124700"/>
            <a:ext cx="3683000" cy="38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2954000" y="9067800"/>
            <a:ext cx="3683000" cy="381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2082800" y="4127500"/>
            <a:ext cx="17780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000" b="false" i="false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프로젝트 목표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68800" y="4000500"/>
            <a:ext cx="37338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클라우드 기반 SAP 시스템 구축을 위한 하이브리드 네트워크 구성 확보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10600" y="3962400"/>
            <a:ext cx="35433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물류 업무 효율화를 위한 SAP와 외부 시스템 간 연계 및 데이터 처리 성능 개선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76200" y="4013200"/>
            <a:ext cx="35433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클라우드 기반 SAP 환경의 업무 기능 개발 및 외부 시스템 연계 안정성 확보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70100" y="5854700"/>
            <a:ext cx="17780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000" b="false" i="false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수행 역할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45000" y="5118100"/>
            <a:ext cx="3543300" cy="152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TGW 기반 하이브리드 네트워크 허브 아키텍팅
- SAP GUI 최종 배포
- Client Copy 및 사용자 계정 , 권한 관리
- 피오리 초기 세팅 수행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37600" y="5346700"/>
            <a:ext cx="3581400" cy="121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현장 물류 효율화를 위한 PDA-SAP 간 RFC 인터페이스 화면 구현
- 현업 비즈니스 서식 출력을 위한 스마트폼 개발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76200" y="5626100"/>
            <a:ext cx="35433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FCM ABAP 개발
- SAP CLOUD ALM 연동</a:t>
            </a: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70100" y="7683500"/>
            <a:ext cx="17780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000" b="false" i="false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프로젝트 성과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445000" y="7112000"/>
            <a:ext cx="3543300" cy="121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- 외부 시스템 통신 트러블 슈팅
- DNS 통합 작업시 트러블 슈팅
- SAP JOULE , BUILD 트러블 슈팅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61400" y="7620000"/>
            <a:ext cx="38481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73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- ABAP 및 RFC 성능 개선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65100" y="7734300"/>
            <a:ext cx="35433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외부 디버깅 트러블 슈팅 
- PCE 네트워크 VPN 연결 트러블 슈팅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3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2247900" y="4762500"/>
            <a:ext cx="1447800" cy="508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3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2235200" y="7048500"/>
            <a:ext cx="1447800" cy="50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-12700" y="-12700"/>
            <a:ext cx="183134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0700" y="939800"/>
            <a:ext cx="14706600" cy="11684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399" b="true" i="false" u="none" strike="noStrike">
                <a:solidFill>
                  <a:srgbClr val="00449E"/>
                </a:solidFill>
                <a:latin typeface="Pretendard SemiBold"/>
                <a:ea typeface="Pretendard SemiBold"/>
                <a:cs typeface="Pretendard SemiBold"/>
              </a:rPr>
              <a:t>SM 운영 프로젝트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3200400" y="3975100"/>
            <a:ext cx="3060700" cy="5321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200400" y="3048000"/>
            <a:ext cx="3060700" cy="7493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467100" y="3213100"/>
            <a:ext cx="2527300" cy="419100"/>
          </a:xfrm>
          <a:prstGeom prst="rect">
            <a:avLst/>
          </a:prstGeom>
        </p:spPr>
        <p:txBody>
          <a:bodyPr anchor="t" rtlCol="false" lIns="0" tIns="13970" rIns="0" bIns="0"/>
          <a:lstStyle/>
          <a:p>
            <a:pPr algn="ctr" lvl="0">
              <a:lnSpc>
                <a:spcPct val="107899"/>
              </a:lnSpc>
            </a:pPr>
            <a:r>
              <a:rPr lang="en-US" sz="2199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구분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6654800" y="3048000"/>
            <a:ext cx="3987800" cy="749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705600" y="3200400"/>
            <a:ext cx="3898900" cy="4445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ctr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W사 PCE ITO 운영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6705600" y="4914900"/>
            <a:ext cx="38862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6819900" y="6997700"/>
            <a:ext cx="38862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6743700" y="9271000"/>
            <a:ext cx="3886200" cy="3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1036300" y="3048000"/>
            <a:ext cx="3987800" cy="74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1087100" y="3200400"/>
            <a:ext cx="3898900" cy="4445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ctr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사내 SAP 시스템 운영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1099800" y="4927600"/>
            <a:ext cx="3886200" cy="38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1303000" y="7023100"/>
            <a:ext cx="3886200" cy="38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1201400" y="9283700"/>
            <a:ext cx="3886200" cy="381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3492500" y="4279900"/>
            <a:ext cx="24892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000" b="false" i="false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프로젝트 목표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18300" y="4152900"/>
            <a:ext cx="39243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PCE 환경의 SAP 시스템 운영 안정성 확보 및 인프라 이슈 대응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63300" y="4152900"/>
            <a:ext cx="37338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사내 SAP 시스템의 안정적인 운영 및 사용자 권한 관리 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79800" y="5753100"/>
            <a:ext cx="24892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000" b="false" i="false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수행 역할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07200" y="5461000"/>
            <a:ext cx="37338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스토리지 용량 관리 및 기술 지원(SR) 수행
- 보안 노츠 적용 및 SP 최신 업그레이드
- 사용자 계정 ,권한 및 배치 조정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63300" y="5638800"/>
            <a:ext cx="37338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 계정 및 권한 관리
- 보안 노츠 및 TCI 적용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56000" y="7772400"/>
            <a:ext cx="24892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000" b="false" i="false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프로젝트 성과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81800" y="6870700"/>
            <a:ext cx="3733800" cy="152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br>
              <a:rPr/>
            </a:b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하이브리드 인터페이스 장애 트러불 슈팅
- FUE 사용 현황 점검 및 조정</a:t>
            </a: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77600" y="7785100"/>
            <a:ext cx="37338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AP &lt;-&gt; DB서버 연결 오류해결
- SAP 장비간의 CTS 연결 오류 해결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6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3708400" y="4914900"/>
            <a:ext cx="2057400" cy="50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6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3708400" y="7010400"/>
            <a:ext cx="2057400" cy="50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-12700" y="-12700"/>
            <a:ext cx="183134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0700" y="939800"/>
            <a:ext cx="14706600" cy="11684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ctr" lvl="0">
              <a:lnSpc>
                <a:spcPct val="99600"/>
              </a:lnSpc>
            </a:pPr>
            <a:r>
              <a:rPr lang="en-US" sz="6399" b="true" i="false" u="none" strike="noStrike">
                <a:solidFill>
                  <a:srgbClr val="00449E"/>
                </a:solidFill>
                <a:latin typeface="Pretendard SemiBold"/>
                <a:ea typeface="Pretendard SemiBold"/>
                <a:cs typeface="Pretendard SemiBold"/>
              </a:rPr>
              <a:t>개선 프로젝트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930400" y="3721100"/>
            <a:ext cx="2159000" cy="5524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930400" y="2794000"/>
            <a:ext cx="2159000" cy="7493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095500" y="2959100"/>
            <a:ext cx="1803400" cy="419100"/>
          </a:xfrm>
          <a:prstGeom prst="rect">
            <a:avLst/>
          </a:prstGeom>
        </p:spPr>
        <p:txBody>
          <a:bodyPr anchor="t" rtlCol="false" lIns="0" tIns="13970" rIns="0" bIns="0"/>
          <a:lstStyle/>
          <a:p>
            <a:pPr algn="ctr" lvl="0">
              <a:lnSpc>
                <a:spcPct val="107899"/>
              </a:lnSpc>
            </a:pPr>
            <a:r>
              <a:rPr lang="en-US" sz="2199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구분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4356100" y="2794000"/>
            <a:ext cx="2806700" cy="749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368800" y="2946400"/>
            <a:ext cx="2768600" cy="419100"/>
          </a:xfrm>
          <a:prstGeom prst="rect">
            <a:avLst/>
          </a:prstGeom>
        </p:spPr>
        <p:txBody>
          <a:bodyPr anchor="t" rtlCol="false" lIns="0" tIns="13970" rIns="0" bIns="0"/>
          <a:lstStyle/>
          <a:p>
            <a:pPr algn="ctr" lvl="0">
              <a:lnSpc>
                <a:spcPct val="10789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D사 OMS개선 프로젝트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4394200" y="4660900"/>
            <a:ext cx="27305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4368800" y="6565900"/>
            <a:ext cx="27305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4432300" y="9994900"/>
            <a:ext cx="2730500" cy="3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7429500" y="2794000"/>
            <a:ext cx="2806700" cy="74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454900" y="2946400"/>
            <a:ext cx="2781300" cy="4445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ctr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H사 S4hana 컨버젼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7467600" y="4673600"/>
            <a:ext cx="2730500" cy="38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7531100" y="6578600"/>
            <a:ext cx="2730500" cy="38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7404100" y="9994900"/>
            <a:ext cx="2730500" cy="38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0515600" y="2794000"/>
            <a:ext cx="2806700" cy="7493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541000" y="2870200"/>
            <a:ext cx="2755900" cy="673100"/>
          </a:xfrm>
          <a:prstGeom prst="rect">
            <a:avLst/>
          </a:prstGeom>
        </p:spPr>
        <p:txBody>
          <a:bodyPr anchor="t" rtlCol="false" lIns="0" tIns="12065" rIns="0" bIns="0"/>
          <a:lstStyle/>
          <a:p>
            <a:pPr algn="ctr" lvl="0">
              <a:lnSpc>
                <a:spcPct val="107899"/>
              </a:lnSpc>
            </a:pPr>
            <a:r>
              <a:rPr lang="en-US" sz="1900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Solution Manager 
업그레이드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0553700" y="4673600"/>
            <a:ext cx="2730500" cy="38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0515600" y="6591300"/>
            <a:ext cx="2730500" cy="38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0566400" y="9969500"/>
            <a:ext cx="2730500" cy="38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3589000" y="2794000"/>
            <a:ext cx="2806700" cy="7493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3614400" y="2946400"/>
            <a:ext cx="2781300" cy="4445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ctr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AX-TFT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08200" y="4025900"/>
            <a:ext cx="17780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000" b="false" i="false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프로젝트 목표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32300" y="3911600"/>
            <a:ext cx="27813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외부 시스템 연계 개선 및 SAP 업무 처리 로직 최적화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05700" y="3898900"/>
            <a:ext cx="26543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S/4HANA 전환에 따른 사전 점검 및 시스템 안정성 확보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15600" y="3873500"/>
            <a:ext cx="28194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인증 만료로 인해 SAP Solution Manager 업그레이드 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77900" y="3848100"/>
            <a:ext cx="26543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AI 기반 SAP 개발·운영 자동화 검증 및 업무 효율성 향상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3627100" y="4673600"/>
            <a:ext cx="2730500" cy="381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2108200" y="5549900"/>
            <a:ext cx="17780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000" b="false" i="false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수행 역할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432300" y="5016500"/>
            <a:ext cx="2654300" cy="121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인터페이스 로그 모니터링 프로그램 활용하여 구축 수행
- 외부 시스템과 데이터 통신을 통해 소수점 자짓수 조정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505700" y="5016500"/>
            <a:ext cx="2654300" cy="121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SAP Cloud ALM 모니터링 체계 구축
- 피오리 앱 세팅
- 개선 오브젝트 CTS 반영 수행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66400" y="4864100"/>
            <a:ext cx="2705100" cy="152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SAP Solution Manager 7.2 업그레이드 SP 18 -&gt; SP21
- 업그레이드 전 SPAM 최신 , 백업 및 사전 노츠 적용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677900" y="5016500"/>
            <a:ext cx="2933700" cy="152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- CIS , CBC 세팅 수행 및 관리
- Tenant 별 사용자 및 권한 관리
- RAP 활용하여 Odata 서비스 및 피오리 앱 구현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3652500" y="6604000"/>
            <a:ext cx="2730500" cy="381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2120900" y="7708900"/>
            <a:ext cx="17780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000" b="false" i="false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프로젝트 성과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381500" y="6807200"/>
            <a:ext cx="2654300" cy="182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- Submit 활용하여 기존 프로그램 재활용
- SD BAPI 함수 활용 및 가격 결정 중복 현상 해결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93000" y="7150100"/>
            <a:ext cx="2654300" cy="152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- SI check 및 Missing Object 확인
- SUM with DMO 사전 트러블슈팅 확인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566400" y="7315200"/>
            <a:ext cx="2806700" cy="152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업그레이드 이후 발생한 트러블 슈팅 해결
- SUM 과정 발생한 트러블 슈팅 해결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652500" y="7162800"/>
            <a:ext cx="2857500" cy="213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Public Cloud TDD 초기 세팅 및 차세대 AI 인프라 연동시 트러블 슈팅 조치
- MCP 활용한 기존 SAP 인프라 기반 AI 툴체인( SAP ↔ MCP ↔ Claude Code ) 아키텍팅
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3804900" y="9982200"/>
            <a:ext cx="2730500" cy="38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13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2286000" y="4660900"/>
            <a:ext cx="1447800" cy="508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13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2286000" y="6591300"/>
            <a:ext cx="1447800" cy="508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-12700" y="-12700"/>
            <a:ext cx="183134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25500" y="4927600"/>
            <a:ext cx="7264400" cy="50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98500" y="647700"/>
            <a:ext cx="8763000" cy="1447800"/>
          </a:xfrm>
          <a:prstGeom prst="rect">
            <a:avLst/>
          </a:prstGeom>
        </p:spPr>
        <p:txBody>
          <a:bodyPr anchor="t" rtlCol="false" lIns="0" tIns="101597" rIns="0" bIns="0"/>
          <a:lstStyle/>
          <a:p>
            <a:pPr algn="l" lvl="0">
              <a:lnSpc>
                <a:spcPct val="99600"/>
              </a:lnSpc>
            </a:pPr>
            <a:r>
              <a:rPr lang="en-US" sz="7998" b="false" i="false" u="none" strike="noStrike">
                <a:solidFill>
                  <a:srgbClr val="00449E"/>
                </a:solidFill>
                <a:latin typeface="Pretendard Black"/>
                <a:ea typeface="Pretendard Black"/>
                <a:cs typeface="Pretendard Black"/>
              </a:rPr>
              <a:t>감사합니다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3900" y="7759700"/>
            <a:ext cx="7061200" cy="64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99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양현익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29300" y="-368300"/>
            <a:ext cx="11861800" cy="15417800"/>
          </a:xfrm>
          <a:prstGeom prst="rect">
            <a:avLst/>
          </a:prstGeom>
        </p:spPr>
        <p:txBody>
          <a:bodyPr anchor="t" rtlCol="false" lIns="0" tIns="4571886" rIns="0" bIns="0"/>
          <a:lstStyle/>
          <a:p>
            <a:pPr algn="r" lvl="0">
              <a:lnSpc>
                <a:spcPct val="41500"/>
              </a:lnSpc>
            </a:pPr>
            <a:r>
              <a:rPr lang="en-US" sz="79998" b="false" i="false" u="none" strike="noStrike">
                <a:solidFill>
                  <a:srgbClr val="00449E"/>
                </a:solidFill>
                <a:latin typeface="Pretendard Black"/>
                <a:ea typeface="Pretendard Black"/>
                <a:cs typeface="Pretendard Black"/>
              </a:rPr>
              <a:t>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